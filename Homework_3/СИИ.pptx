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4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9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463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461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02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693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04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437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72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91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144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16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346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505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383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957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093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62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67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058DD-CA9B-4DE5-87A4-B1A7CEA1D670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0B63C-E795-4842-9019-72C2AFA19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4275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0322" y="2788573"/>
            <a:ext cx="8144134" cy="1373070"/>
          </a:xfrm>
        </p:spPr>
        <p:txBody>
          <a:bodyPr/>
          <a:lstStyle/>
          <a:p>
            <a:r>
              <a:rPr lang="en-US" b="1" dirty="0"/>
              <a:t>RAG (Retrieval-Augmented Generation)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4394039"/>
            <a:ext cx="9948672" cy="1117687"/>
          </a:xfrm>
        </p:spPr>
        <p:txBody>
          <a:bodyPr/>
          <a:lstStyle/>
          <a:p>
            <a:r>
              <a:rPr lang="ru-RU" i="1" dirty="0"/>
              <a:t>Как заставить ИИ не просто «помнить», а «обращаться к источникам»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7858762" y="6383045"/>
            <a:ext cx="4333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Выполнил: Жарков Антон, группа 4221</a:t>
            </a:r>
          </a:p>
        </p:txBody>
      </p:sp>
    </p:spTree>
    <p:extLst>
      <p:ext uri="{BB962C8B-B14F-4D97-AF65-F5344CB8AC3E}">
        <p14:creationId xmlns:p14="http://schemas.microsoft.com/office/powerpoint/2010/main" val="340783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Проблема современных языковых моделей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80322" y="2336873"/>
            <a:ext cx="6929804" cy="35993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Ограничения LLM «из коробки»</a:t>
            </a:r>
          </a:p>
          <a:p>
            <a:r>
              <a:rPr lang="ru-RU" b="1" dirty="0"/>
              <a:t>Галлюцинации:</a:t>
            </a:r>
            <a:r>
              <a:rPr lang="ru-RU" dirty="0"/>
              <a:t> Уверенная генерация ложной информации.</a:t>
            </a:r>
          </a:p>
          <a:p>
            <a:r>
              <a:rPr lang="ru-RU" b="1" dirty="0"/>
              <a:t>Статические знания:</a:t>
            </a:r>
            <a:r>
              <a:rPr lang="ru-RU" dirty="0"/>
              <a:t> Заморожены на дате обучения. Нет доступа к новым данным.</a:t>
            </a:r>
          </a:p>
          <a:p>
            <a:r>
              <a:rPr lang="ru-RU" b="1" dirty="0"/>
              <a:t>Черный ящик:</a:t>
            </a:r>
            <a:r>
              <a:rPr lang="ru-RU" dirty="0"/>
              <a:t> Невозможно проверить источник утверждений.</a:t>
            </a:r>
          </a:p>
          <a:p>
            <a:pPr marL="0" indent="0">
              <a:buNone/>
            </a:pPr>
            <a:r>
              <a:rPr lang="ru-RU" b="1" dirty="0"/>
              <a:t>Аналогия:</a:t>
            </a:r>
            <a:r>
              <a:rPr lang="ru-RU" dirty="0"/>
              <a:t> </a:t>
            </a:r>
            <a:r>
              <a:rPr lang="ru-RU" i="1" dirty="0"/>
              <a:t>Гениальный студент-всезнайка, который часто додумывает то, чего не знает.</a:t>
            </a:r>
            <a:endParaRPr lang="ru-RU" dirty="0"/>
          </a:p>
          <a:p>
            <a:endParaRPr lang="ru-RU" dirty="0"/>
          </a:p>
        </p:txBody>
      </p:sp>
      <p:pic>
        <p:nvPicPr>
          <p:cNvPr id="6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126" y="2600691"/>
            <a:ext cx="4207719" cy="280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6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0321" y="1170432"/>
            <a:ext cx="9613861" cy="66373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Решение — архитектура </a:t>
            </a:r>
            <a:r>
              <a:rPr lang="en-US" b="1" dirty="0"/>
              <a:t>RAG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321" y="2336873"/>
            <a:ext cx="6666209" cy="3599316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Название идеально описывает процесс:</a:t>
            </a:r>
          </a:p>
          <a:p>
            <a:r>
              <a:rPr lang="ru-RU" b="1" dirty="0"/>
              <a:t>Извлечение (</a:t>
            </a:r>
            <a:r>
              <a:rPr lang="ru-RU" b="1" dirty="0" err="1"/>
              <a:t>Retrieval</a:t>
            </a:r>
            <a:r>
              <a:rPr lang="ru-RU" b="1" dirty="0"/>
              <a:t>)</a:t>
            </a:r>
            <a:r>
              <a:rPr lang="ru-RU" dirty="0"/>
              <a:t> релевантных данных из надежного источника.</a:t>
            </a:r>
          </a:p>
          <a:p>
            <a:r>
              <a:rPr lang="ru-RU" b="1" dirty="0"/>
              <a:t>Дополнение (</a:t>
            </a:r>
            <a:r>
              <a:rPr lang="ru-RU" b="1" dirty="0" err="1"/>
              <a:t>Augmentation</a:t>
            </a:r>
            <a:r>
              <a:rPr lang="ru-RU" b="1" dirty="0"/>
              <a:t>)</a:t>
            </a:r>
            <a:r>
              <a:rPr lang="ru-RU" dirty="0"/>
              <a:t> ими исходного запроса.</a:t>
            </a:r>
          </a:p>
          <a:p>
            <a:r>
              <a:rPr lang="ru-RU" b="1" dirty="0"/>
              <a:t>Генерация (</a:t>
            </a:r>
            <a:r>
              <a:rPr lang="ru-RU" b="1" dirty="0" err="1"/>
              <a:t>Generation</a:t>
            </a:r>
            <a:r>
              <a:rPr lang="ru-RU" b="1" dirty="0"/>
              <a:t>)</a:t>
            </a:r>
            <a:r>
              <a:rPr lang="ru-RU" dirty="0"/>
              <a:t> окончательного ответа.</a:t>
            </a:r>
          </a:p>
          <a:p>
            <a:pPr marL="0" indent="0">
              <a:buNone/>
            </a:pPr>
            <a:r>
              <a:rPr lang="ru-RU" b="1" dirty="0"/>
              <a:t>Девиз:</a:t>
            </a:r>
            <a:r>
              <a:rPr lang="ru-RU" dirty="0"/>
              <a:t> </a:t>
            </a:r>
            <a:r>
              <a:rPr lang="ru-RU" i="1" dirty="0"/>
              <a:t>Просто. Эффективно. Элегантно.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986" y="2578935"/>
            <a:ext cx="4229774" cy="281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43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 работает RAG? По шагам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5776820"/>
              </p:ext>
            </p:extLst>
          </p:nvPr>
        </p:nvGraphicFramePr>
        <p:xfrm>
          <a:off x="680321" y="2336800"/>
          <a:ext cx="10841118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706">
                  <a:extLst>
                    <a:ext uri="{9D8B030D-6E8A-4147-A177-3AD203B41FA5}">
                      <a16:colId xmlns:a16="http://schemas.microsoft.com/office/drawing/2014/main" val="4194134251"/>
                    </a:ext>
                  </a:extLst>
                </a:gridCol>
                <a:gridCol w="3613706">
                  <a:extLst>
                    <a:ext uri="{9D8B030D-6E8A-4147-A177-3AD203B41FA5}">
                      <a16:colId xmlns:a16="http://schemas.microsoft.com/office/drawing/2014/main" val="795509075"/>
                    </a:ext>
                  </a:extLst>
                </a:gridCol>
                <a:gridCol w="3613706">
                  <a:extLst>
                    <a:ext uri="{9D8B030D-6E8A-4147-A177-3AD203B41FA5}">
                      <a16:colId xmlns:a16="http://schemas.microsoft.com/office/drawing/2014/main" val="11501547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Retrieval — </a:t>
                      </a:r>
                      <a:r>
                        <a:rPr lang="ru-RU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ИЗВЛЕЧЕНИЕ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Augmentation — </a:t>
                      </a:r>
                      <a:r>
                        <a:rPr lang="ru-RU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ДОПОЛНЕНИЕ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Generation — </a:t>
                      </a:r>
                      <a:r>
                        <a:rPr lang="ru-RU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ГЕНЕРАЦИЯ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33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Подготовка «библиотеки»: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Документы разбиваются на фрагменты.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Преобразуются в числовые векторы (суть смысла).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Хранятся в </a:t>
                      </a:r>
                      <a:r>
                        <a:rPr lang="ru-RU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векторной базе данных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«Умный» поиск: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Вопрос пользователя тоже векторизуется.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Система находит в «библиотеке» </a:t>
                      </a:r>
                      <a:r>
                        <a:rPr lang="ru-RU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самые близкие по смыслу фрагменты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Эти фрагменты </a:t>
                      </a:r>
                      <a:r>
                        <a:rPr lang="ru-RU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подшиваются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к исходному вопросу.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Формулировка ответа: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Обогащенный контекстом запрос отправляется в LLM.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 </a:t>
                      </a:r>
                      <a:r>
                        <a:rPr lang="ru-RU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Задача LLM: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не выдумывать, а красиво и структурированно изложить информацию из предоставленных источников.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463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Создание цифровой базы знаний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Создание контекстуального запроса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Роль эксперта-</a:t>
                      </a:r>
                      <a:r>
                        <a:rPr lang="ru-RU" sz="1800" b="0" i="1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формулировщика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396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44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Схема </a:t>
            </a:r>
            <a:r>
              <a:rPr lang="en-US" b="1" dirty="0" smtClean="0"/>
              <a:t>RAG</a:t>
            </a: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769" y="2354555"/>
            <a:ext cx="9434845" cy="394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2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Ключевые преимущества </a:t>
            </a:r>
            <a:r>
              <a:rPr lang="en-US" b="1" dirty="0"/>
              <a:t>RAG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80322" y="2336873"/>
            <a:ext cx="7269164" cy="359931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b="1" dirty="0" smtClean="0"/>
              <a:t> Щит </a:t>
            </a:r>
            <a:r>
              <a:rPr lang="ru-RU" b="1" dirty="0"/>
              <a:t>от </a:t>
            </a:r>
            <a:r>
              <a:rPr lang="ru-RU" b="1" dirty="0" smtClean="0"/>
              <a:t>галлюцинаций</a:t>
            </a:r>
          </a:p>
          <a:p>
            <a:pPr marL="457200" lvl="1" indent="0">
              <a:buNone/>
            </a:pPr>
            <a:r>
              <a:rPr lang="ru-RU" dirty="0" smtClean="0"/>
              <a:t>Ответ </a:t>
            </a:r>
            <a:r>
              <a:rPr lang="ru-RU" dirty="0"/>
              <a:t>основывается на проверенных документах, а не на внутренних «фантазиях» модели</a:t>
            </a:r>
            <a:r>
              <a:rPr lang="ru-RU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 smtClean="0"/>
              <a:t> Актуальность знаний</a:t>
            </a:r>
          </a:p>
          <a:p>
            <a:pPr marL="457200" lvl="1" indent="0">
              <a:buNone/>
            </a:pPr>
            <a:r>
              <a:rPr lang="ru-RU" dirty="0"/>
              <a:t>Чтобы обновить знания системы, просто </a:t>
            </a:r>
            <a:r>
              <a:rPr lang="ru-RU" b="1" dirty="0"/>
              <a:t>добавьте новые документы</a:t>
            </a:r>
            <a:r>
              <a:rPr lang="ru-RU" dirty="0"/>
              <a:t> в базу. Не нужно дорогостоящее переобучение модели</a:t>
            </a:r>
            <a:r>
              <a:rPr lang="ru-RU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 smtClean="0"/>
              <a:t> Прозрачность </a:t>
            </a:r>
            <a:r>
              <a:rPr lang="ru-RU" b="1" dirty="0"/>
              <a:t>и </a:t>
            </a:r>
            <a:r>
              <a:rPr lang="ru-RU" b="1" dirty="0" smtClean="0"/>
              <a:t>доверие</a:t>
            </a:r>
          </a:p>
          <a:p>
            <a:pPr marL="457200" lvl="1" indent="0">
              <a:buNone/>
            </a:pPr>
            <a:r>
              <a:rPr lang="ru-RU" dirty="0"/>
              <a:t>Возможность показать источники (цитирование). Пользователь всегда может проверить первоисточник информации.</a:t>
            </a:r>
            <a:endParaRPr lang="ru-RU" dirty="0"/>
          </a:p>
        </p:txBody>
      </p:sp>
      <p:pic>
        <p:nvPicPr>
          <p:cNvPr id="7" name="Объект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517" y="2665966"/>
            <a:ext cx="3645107" cy="246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3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Итоги: Больше чем архитектура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321" y="2336873"/>
            <a:ext cx="10201039" cy="3599316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RAG — это элегантный мост</a:t>
            </a:r>
            <a:r>
              <a:rPr lang="ru-RU" dirty="0"/>
              <a:t> между:</a:t>
            </a:r>
          </a:p>
          <a:p>
            <a:pPr marL="0" indent="0">
              <a:buNone/>
            </a:pPr>
            <a:r>
              <a:rPr lang="ru-RU" b="1" dirty="0"/>
              <a:t>Генеративной мощью</a:t>
            </a:r>
            <a:r>
              <a:rPr lang="ru-RU" dirty="0"/>
              <a:t> больших языковых </a:t>
            </a:r>
            <a:r>
              <a:rPr lang="ru-RU" dirty="0" smtClean="0"/>
              <a:t>моделей и</a:t>
            </a:r>
            <a:r>
              <a:rPr lang="ru-RU" dirty="0"/>
              <a:t> </a:t>
            </a:r>
            <a:r>
              <a:rPr lang="ru-RU" b="1" dirty="0"/>
              <a:t>Точностью</a:t>
            </a:r>
            <a:r>
              <a:rPr lang="ru-RU" dirty="0"/>
              <a:t> внешних, управляемых знаний.</a:t>
            </a:r>
          </a:p>
          <a:p>
            <a:pPr marL="0" indent="0">
              <a:buNone/>
            </a:pPr>
            <a:r>
              <a:rPr lang="ru-RU" b="1" dirty="0"/>
              <a:t>Это философия</a:t>
            </a:r>
            <a:r>
              <a:rPr lang="ru-RU" dirty="0"/>
              <a:t> </a:t>
            </a:r>
            <a:r>
              <a:rPr lang="ru-RU" dirty="0" smtClean="0"/>
              <a:t>создания: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 smtClean="0"/>
              <a:t> Ответственного</a:t>
            </a:r>
            <a:r>
              <a:rPr lang="ru-RU" dirty="0"/>
              <a:t> </a:t>
            </a:r>
            <a:r>
              <a:rPr lang="ru-RU" dirty="0" smtClean="0"/>
              <a:t>ИИ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 smtClean="0"/>
              <a:t> Прозрачного</a:t>
            </a:r>
            <a:r>
              <a:rPr lang="ru-RU" dirty="0"/>
              <a:t> </a:t>
            </a:r>
            <a:r>
              <a:rPr lang="ru-RU" dirty="0" smtClean="0"/>
              <a:t>ИИ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b="1" dirty="0" smtClean="0"/>
              <a:t> По-настоящему </a:t>
            </a:r>
            <a:r>
              <a:rPr lang="ru-RU" b="1" dirty="0"/>
              <a:t>полезного</a:t>
            </a:r>
            <a:r>
              <a:rPr lang="ru-RU" dirty="0"/>
              <a:t> 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033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Берлин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Берлин</Template>
  <TotalTime>102</TotalTime>
  <Words>366</Words>
  <Application>Microsoft Office PowerPoint</Application>
  <PresentationFormat>Широкоэкранный</PresentationFormat>
  <Paragraphs>40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</vt:lpstr>
      <vt:lpstr>Берлин</vt:lpstr>
      <vt:lpstr>RAG (Retrieval-Augmented Generation)</vt:lpstr>
      <vt:lpstr>Проблема современных языковых моделей</vt:lpstr>
      <vt:lpstr>Решение — архитектура RAG </vt:lpstr>
      <vt:lpstr>Как работает RAG? По шагам</vt:lpstr>
      <vt:lpstr>Схема RAG</vt:lpstr>
      <vt:lpstr>Ключевые преимущества RAG</vt:lpstr>
      <vt:lpstr>Итоги: Больше чем архитектура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Антон Жарков</dc:creator>
  <cp:lastModifiedBy>Антон Жарков</cp:lastModifiedBy>
  <cp:revision>13</cp:revision>
  <dcterms:created xsi:type="dcterms:W3CDTF">2025-11-30T17:56:57Z</dcterms:created>
  <dcterms:modified xsi:type="dcterms:W3CDTF">2025-12-07T11:09:50Z</dcterms:modified>
</cp:coreProperties>
</file>